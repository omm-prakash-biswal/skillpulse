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hyperlink" Target="https://skill-pulse-employeetracker.vercel.app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pmkvyofficial.org/" TargetMode="External"/><Relationship Id="rId6" Type="http://schemas.openxmlformats.org/officeDocument/2006/relationships/hyperlink" Target="https://ncvet.gov.in/" TargetMode="External"/><Relationship Id="rId7" Type="http://schemas.openxmlformats.org/officeDocument/2006/relationships/hyperlink" Target="https://dgt.gov.in/" TargetMode="External"/><Relationship Id="rId8" Type="http://schemas.openxmlformats.org/officeDocument/2006/relationships/hyperlink" Target="https://ddugky.gov.in/" TargetMode="External"/><Relationship Id="rId9" Type="http://schemas.openxmlformats.org/officeDocument/2006/relationships/hyperlink" Target="https://www.meity.gov.in/" TargetMode="External"/><Relationship Id="rId10" Type="http://schemas.openxmlformats.org/officeDocument/2006/relationships/hyperlink" Target="https://www.sciencedirect.com/" TargetMode="External"/><Relationship Id="rId11" Type="http://schemas.openxmlformats.org/officeDocument/2006/relationships/hyperlink" Target="https://owasp.org/www-project-api-security/" TargetMode="External"/><Relationship Id="rId12" Type="http://schemas.openxmlformats.org/officeDocument/2006/relationships/hyperlink" Target="https://skill-pulse-employeetracker.vercel.app/" TargetMode="External"/><Relationship Id="rId13" Type="http://schemas.openxmlformats.org/officeDocument/2006/relationships/hyperlink" Target="https://github.com/priyanshu-pgb/SkillPulse-Frontend" TargetMode="External"/><Relationship Id="rId14" Type="http://schemas.openxmlformats.org/officeDocument/2006/relationships/hyperlink" Target="https://github.com/priyanshu-pgb/SkillPulse-Backe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>
              <a:defRPr b="1">
                <a:solidFill>
                  <a:srgbClr val="0E8176"/>
                </a:solidFill>
                <a:latin typeface="Segoe UI"/>
              </a:defRPr>
            </a:pP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b="1">
                <a:solidFill>
                  <a:srgbClr val="0E8176"/>
                </a:solidFill>
                <a:latin typeface="Segoe UI"/>
              </a:defRPr>
            </a:pP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SYNKRO</a:t>
            </a:r>
            <a:endParaRPr lang="en-I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>
                <a:solidFill>
                  <a:srgbClr val="1E2749"/>
                </a:solidFill>
                <a:latin typeface="Segoe UI"/>
              </a:defRPr>
            </a:pP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50">
                <a:solidFill>
                  <a:srgbClr val="1E293B"/>
                </a:solidFill>
                <a:latin typeface="Segoe UI"/>
              </a:defRPr>
            </a:pPr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 b="1">
                <a:solidFill>
                  <a:srgbClr val="0F172A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26135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>
                <a:solidFill>
                  <a:srgbClr val="1E293B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Difficulties in Tracking Employment Outcomes, Skill Gaps, and the Impact of Skilling Initiatives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>
                <a:solidFill>
                  <a:srgbClr val="1E293B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>
                <a:solidFill>
                  <a:srgbClr val="1E293B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>
                <a:solidFill>
                  <a:srgbClr val="1E293B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  <a:defRPr sz="1650" b="1">
                <a:solidFill>
                  <a:srgbClr val="0F172A"/>
                </a:solidFill>
                <a:latin typeface="Segoe UI"/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SYNKRO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" y="360000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50000" y="140000"/>
            <a:ext cx="7900000" cy="980000"/>
          </a:xfrm>
        </p:spPr>
        <p:txBody>
          <a:bodyPr wrap="square" tIns="0" bIns="0" lIns="0" rIns="0"/>
          <a:lstStyle/>
          <a:p>
            <a:pPr eaLnBrk="1" hangingPunct="1">
              <a:spcAft>
                <a:spcPts val="20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SkillPulse: Field Atlas</a:t>
            </a:r>
          </a:p>
          <a:p>
            <a:pPr>
              <a:defRPr sz="1400" b="1">
                <a:solidFill>
                  <a:srgbClr val="0066CC"/>
                </a:solidFill>
                <a:latin typeface="Segoe UI"/>
              </a:defRPr>
            </a:pPr>
            <a:r>
              <a:t>❖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1" y="317246"/>
            <a:ext cx="340000" cy="34000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329773" y="672246"/>
            <a:ext cx="1251857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1E2749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00000" y="1180000"/>
            <a:ext cx="5700000" cy="48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Comprehensive Outcomes Platform: </a:t>
            </a:r>
            <a:r>
              <a:rPr sz="1080">
                <a:solidFill>
                  <a:srgbClr val="1E293B"/>
                </a:solidFill>
                <a:latin typeface="Segoe UI"/>
              </a:rPr>
              <a:t>A robust web application ecosystem connecting training providers, vocational trainees, and hiring employers in a unified, consent-based registry.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Automated Longitudinal Tracking: </a:t>
            </a:r>
            <a:r>
              <a:rPr sz="1080">
                <a:solidFill>
                  <a:srgbClr val="1E293B"/>
                </a:solidFill>
                <a:latin typeface="Segoe UI"/>
              </a:rPr>
              <a:t>Multi-milestone post-training outreach queue (3, 6, and 12-month intervals) via WhatsApp, SMS, and calls capturing employment, retention, and wage growth.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Verifiable Tamper-Proof Credentials: </a:t>
            </a:r>
            <a:r>
              <a:rPr sz="1080">
                <a:solidFill>
                  <a:srgbClr val="1E293B"/>
                </a:solidFill>
                <a:latin typeface="Segoe UI"/>
              </a:rPr>
              <a:t>High-fidelity landscape PDF certificates generated via ReportLab with unique cryptographic verification UUIDs, verifiable at public portal.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k-Anonymity Privacy Safeguards: </a:t>
            </a:r>
            <a:r>
              <a:rPr sz="1080">
                <a:solidFill>
                  <a:srgbClr val="1E293B"/>
                </a:solidFill>
                <a:latin typeface="Segoe UI"/>
              </a:rPr>
              <a:t>Automatically cloaks small-cohort wage metrics (&lt; 5 responses) to safeguard learner privacy and strictly enforce Digital Personal Data Protection Act (DPDPA 2023) standards.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11-Language Native Localization: </a:t>
            </a:r>
            <a:r>
              <a:rPr sz="1080">
                <a:solidFill>
                  <a:srgbClr val="1E293B"/>
                </a:solidFill>
                <a:latin typeface="Segoe UI"/>
              </a:rPr>
              <a:t>Full interface and notification support across 11 Indian languages with dynamic Right-to-Left (RTL) layout switching for Urdu, ensuring rural accessibility.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Multi-Tenant Trainer Data Isolation: </a:t>
            </a:r>
            <a:r>
              <a:rPr sz="1080">
                <a:solidFill>
                  <a:srgbClr val="1E293B"/>
                </a:solidFill>
                <a:latin typeface="Segoe UI"/>
              </a:rPr>
              <a:t>Strict row- and object-level scoping ensuring trainers only query or edit assigned cohorts (HTTP 403 Forbidden on cross-tenant leaks), backed by an immutable AuditLog.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066CC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Skill-Gap &amp; Attrition Diagnostics: </a:t>
            </a:r>
            <a:r>
              <a:rPr sz="1080">
                <a:solidFill>
                  <a:srgbClr val="1E293B"/>
                </a:solidFill>
                <a:latin typeface="Segoe UI"/>
              </a:rPr>
              <a:t>Captures reasons for non-placement, dropouts, and job changes to provide actionable diagnostics for course redesign and targeted remedial skilling.</a:t>
            </a:r>
          </a:p>
        </p:txBody>
      </p:sp>
      <p:pic>
        <p:nvPicPr>
          <p:cNvPr id="15366" name="Picture 15365" descr="slide2_data_flow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00" y="1180000"/>
            <a:ext cx="5550000" cy="2650000"/>
          </a:xfrm>
          <a:prstGeom prst="rect">
            <a:avLst/>
          </a:prstGeom>
        </p:spPr>
      </p:pic>
      <p:pic>
        <p:nvPicPr>
          <p:cNvPr id="15367" name="Picture 15366" descr="slide2_Image 6_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000" y="3930000"/>
            <a:ext cx="2705000" cy="1820000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6240000" y="5770000"/>
            <a:ext cx="2705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E2749"/>
                </a:solidFill>
                <a:latin typeface="Segoe UI"/>
              </a:defRPr>
            </a:pPr>
            <a:r>
              <a:t>Live Placement &amp; Wage Analytics Dashboard</a:t>
            </a:r>
          </a:p>
        </p:txBody>
      </p:sp>
      <p:pic>
        <p:nvPicPr>
          <p:cNvPr id="15369" name="Picture 15368" descr="slide2_Image 7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000" y="3930000"/>
            <a:ext cx="2705000" cy="1820000"/>
          </a:xfrm>
          <a:prstGeom prst="rect">
            <a:avLst/>
          </a:prstGeom>
        </p:spPr>
      </p:pic>
      <p:sp>
        <p:nvSpPr>
          <p:cNvPr id="15370" name="TextBox 15369"/>
          <p:cNvSpPr txBox="1"/>
          <p:nvPr/>
        </p:nvSpPr>
        <p:spPr>
          <a:xfrm>
            <a:off x="9085000" y="5770000"/>
            <a:ext cx="2705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E8176"/>
                </a:solidFill>
                <a:latin typeface="Segoe UI"/>
              </a:defRPr>
            </a:pPr>
            <a:r>
              <a:t>Tamper-Proof Credential Verification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0000" y="140000"/>
            <a:ext cx="7900000" cy="980000"/>
          </a:xfrm>
        </p:spPr>
        <p:txBody>
          <a:bodyPr wrap="square" tIns="0" bIns="0" lIns="0" rIns="0"/>
          <a:lstStyle/>
          <a:p>
            <a:pPr eaLnBrk="1" hangingPunct="1">
              <a:spcAft>
                <a:spcPts val="20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TECHNICAL APPROACH</a:t>
            </a:r>
          </a:p>
          <a:p>
            <a:pPr>
              <a:defRPr sz="1400" b="1">
                <a:solidFill>
                  <a:srgbClr val="0066CC"/>
                </a:solidFill>
                <a:latin typeface="Segoe UI"/>
              </a:defRPr>
            </a:pPr>
            <a:r>
              <a:t>❖ Technology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1" y="317246"/>
            <a:ext cx="340000" cy="3400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29773" y="672246"/>
            <a:ext cx="1251857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1E2749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0000" y="1180000"/>
            <a:ext cx="5700000" cy="4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Frontend : </a:t>
            </a:r>
            <a:r>
              <a:rPr sz="1220">
                <a:solidFill>
                  <a:srgbClr val="1E293B"/>
                </a:solidFill>
                <a:latin typeface="Segoe UI"/>
              </a:rPr>
              <a:t>Vanilla JavaScript (ES6+), Semantic HTML5, CSS3 with civic cartography design tokens, 11-language i18n engine, Chart.js, Lucide Icons, Vercel Edge CDN.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Backend : </a:t>
            </a:r>
            <a:r>
              <a:rPr sz="1220">
                <a:solidFill>
                  <a:srgbClr val="1E293B"/>
                </a:solidFill>
                <a:latin typeface="Segoe UI"/>
              </a:rPr>
              <a:t>Python 3.12+ (tested on Python 3.14/3.15), Django 5+, Django REST Framework (DRF), 40+ RESTful JSON endpoints, django-cors-headers, PyMySQL driver.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Security &amp; Auth : </a:t>
            </a:r>
            <a:r>
              <a:rPr sz="1220">
                <a:solidFill>
                  <a:srgbClr val="1E293B"/>
                </a:solidFill>
                <a:latin typeface="Segoe UI"/>
              </a:rPr>
              <a:t>HMAC-SHA256 Email OTP (secrets module), 5-attempt temporary account lockout, anti-enumeration, k-anonymity privacy algorithm (&lt; 5 responses masked), Pillow image sanitization.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Certificates &amp; Reports : </a:t>
            </a:r>
            <a:r>
              <a:rPr sz="1220">
                <a:solidFill>
                  <a:srgbClr val="1E293B"/>
                </a:solidFill>
                <a:latin typeface="Segoe UI"/>
              </a:rPr>
              <a:t>ReportLab 4.0+ landscape PDF generator with cryptographic verification tokens, UTF-8 BOM CSV exports (\ufeff) for Excel regional script rendering, immutable AuditLog.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Database &amp; Cloud : </a:t>
            </a:r>
            <a:r>
              <a:rPr sz="1220">
                <a:solidFill>
                  <a:srgbClr val="1E293B"/>
                </a:solidFill>
                <a:latin typeface="Segoe UI"/>
              </a:rPr>
              <a:t>MySQL 8.0 with SQLite local fallback, Docker &amp; Docker Compose containerization, Netlify/Vercel decoupled hosting, GitHub Actions CI.</a:t>
            </a:r>
          </a:p>
        </p:txBody>
      </p:sp>
      <p:pic>
        <p:nvPicPr>
          <p:cNvPr id="17414" name="Picture 17413" descr="ht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000" y="1220000"/>
            <a:ext cx="800000" cy="800000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350000" y="204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HTML5</a:t>
            </a:r>
          </a:p>
        </p:txBody>
      </p:sp>
      <p:pic>
        <p:nvPicPr>
          <p:cNvPr id="17416" name="Picture 17415" descr="c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5000" y="1220000"/>
            <a:ext cx="800000" cy="8000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7700000" y="204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CSS3</a:t>
            </a:r>
          </a:p>
        </p:txBody>
      </p:sp>
      <p:pic>
        <p:nvPicPr>
          <p:cNvPr id="17418" name="Picture 17417" descr="javascri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5000" y="1220000"/>
            <a:ext cx="800000" cy="80000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9050000" y="204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JavaScript</a:t>
            </a:r>
          </a:p>
        </p:txBody>
      </p:sp>
      <p:pic>
        <p:nvPicPr>
          <p:cNvPr id="17420" name="Picture 17419" descr="pyth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5000" y="1220000"/>
            <a:ext cx="800000" cy="80000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0400000" y="204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Python 3.12+</a:t>
            </a:r>
          </a:p>
        </p:txBody>
      </p:sp>
      <p:pic>
        <p:nvPicPr>
          <p:cNvPr id="17422" name="Picture 17421" descr="djan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000" y="2750000"/>
            <a:ext cx="800000" cy="80000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350000" y="357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Django 5</a:t>
            </a:r>
          </a:p>
        </p:txBody>
      </p:sp>
      <p:pic>
        <p:nvPicPr>
          <p:cNvPr id="17424" name="Picture 17423" descr="my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5000" y="2750000"/>
            <a:ext cx="800000" cy="80000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7700000" y="357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MySQL 8.0</a:t>
            </a:r>
          </a:p>
        </p:txBody>
      </p:sp>
      <p:pic>
        <p:nvPicPr>
          <p:cNvPr id="17426" name="Picture 17425" descr="postgresq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5000" y="2750000"/>
            <a:ext cx="800000" cy="800000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9050000" y="357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PostgreSQL</a:t>
            </a:r>
          </a:p>
        </p:txBody>
      </p:sp>
      <p:pic>
        <p:nvPicPr>
          <p:cNvPr id="17428" name="Picture 17427" descr="doc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5000" y="2750000"/>
            <a:ext cx="800000" cy="80000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0400000" y="357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Docker</a:t>
            </a:r>
          </a:p>
        </p:txBody>
      </p:sp>
      <p:pic>
        <p:nvPicPr>
          <p:cNvPr id="17430" name="Picture 17429" descr="g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5000" y="4280000"/>
            <a:ext cx="800000" cy="80000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350000" y="510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Git / GitHub</a:t>
            </a:r>
          </a:p>
        </p:txBody>
      </p:sp>
      <p:pic>
        <p:nvPicPr>
          <p:cNvPr id="17432" name="Picture 17431" descr="nodej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5000" y="4280000"/>
            <a:ext cx="800000" cy="80000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7700000" y="510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Node.js</a:t>
            </a:r>
          </a:p>
        </p:txBody>
      </p:sp>
      <p:pic>
        <p:nvPicPr>
          <p:cNvPr id="17434" name="Picture 17433" descr="postma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5000" y="4280000"/>
            <a:ext cx="800000" cy="80000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9050000" y="510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Postman / REST</a:t>
            </a:r>
          </a:p>
        </p:txBody>
      </p:sp>
      <p:pic>
        <p:nvPicPr>
          <p:cNvPr id="17436" name="Picture 17435" descr="verce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5000" y="4280000"/>
            <a:ext cx="800000" cy="800000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0400000" y="5100000"/>
            <a:ext cx="1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Vercel 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0000" y="140000"/>
            <a:ext cx="7900000" cy="980000"/>
          </a:xfrm>
        </p:spPr>
        <p:txBody>
          <a:bodyPr wrap="square" tIns="0" bIns="0" lIns="0" rIns="0"/>
          <a:lstStyle/>
          <a:p>
            <a:pPr eaLnBrk="1" hangingPunct="1">
              <a:spcAft>
                <a:spcPts val="20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1" y="317246"/>
            <a:ext cx="340000" cy="3400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29773" y="672246"/>
            <a:ext cx="1251857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1E2749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0000" y="1180000"/>
            <a:ext cx="5700000" cy="4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Feasibility: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1. Technical: </a:t>
            </a:r>
            <a:r>
              <a:rPr sz="1019">
                <a:solidFill>
                  <a:srgbClr val="1E293B"/>
                </a:solidFill>
                <a:latin typeface="Segoe UI"/>
              </a:rPr>
              <a:t>Feasible via mature enterprise stack (Python 3.12+, Django 5+, MySQL). 28/28 automated tests passing.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2. Economic: </a:t>
            </a:r>
            <a:r>
              <a:rPr sz="1019">
                <a:solidFill>
                  <a:srgbClr val="1E293B"/>
                </a:solidFill>
                <a:latin typeface="Segoe UI"/>
              </a:rPr>
              <a:t>Low infrastructure costs (&lt; Rs 1,500/mo on commodity VPS) justified by massive returns in audit transparency.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3. Operational: </a:t>
            </a:r>
            <a:r>
              <a:rPr sz="1019">
                <a:solidFill>
                  <a:srgbClr val="1E293B"/>
                </a:solidFill>
                <a:latin typeface="Segoe UI"/>
              </a:rPr>
              <a:t>11 Indian languages, low-bandwidth optimization, and WhatsApp outreach ensure seamless adoption.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Viability: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4. Market Opportunities: </a:t>
            </a:r>
            <a:r>
              <a:rPr sz="1019">
                <a:solidFill>
                  <a:srgbClr val="1E293B"/>
                </a:solidFill>
                <a:latin typeface="Segoe UI"/>
              </a:rPr>
              <a:t>High demand across PMKVY 4.0, NCVET, DDU-GKY, NULM, and State Skill Development Missions.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5. Sustainability &amp; Future-Proofing: </a:t>
            </a:r>
            <a:r>
              <a:rPr sz="1019">
                <a:solidFill>
                  <a:srgbClr val="1E293B"/>
                </a:solidFill>
                <a:latin typeface="Segoe UI"/>
              </a:rPr>
              <a:t>Modular REST APIs adapt seamlessly to DigiLocker and National Skill Qualifications Framework.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Challenges: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6. Trainee Contact Loss: </a:t>
            </a:r>
            <a:r>
              <a:rPr sz="1019">
                <a:solidFill>
                  <a:srgbClr val="1E293B"/>
                </a:solidFill>
                <a:latin typeface="Segoe UI"/>
              </a:rPr>
              <a:t>Trainees changing numbers/locations resolved via secondary contacts &amp; center mobilizer queue.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7. Inconsistent Employer Data: </a:t>
            </a:r>
            <a:r>
              <a:rPr sz="1019">
                <a:solidFill>
                  <a:srgbClr val="1E293B"/>
                </a:solidFill>
                <a:latin typeface="Segoe UI"/>
              </a:rPr>
              <a:t>Asynchronous 1-click employer validation links &amp; salary slip/offer letter cross-verification.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8. Wage Privacy Hesitation: </a:t>
            </a:r>
            <a:r>
              <a:rPr sz="1019">
                <a:solidFill>
                  <a:srgbClr val="1E293B"/>
                </a:solidFill>
                <a:latin typeface="Segoe UI"/>
              </a:rPr>
              <a:t>k-anonymity model conceals micro-cohort wages (&lt; 5 responses) ensuring complete confidentiality.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Use Cases: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9. Milestone Follow-Ups: </a:t>
            </a:r>
            <a:r>
              <a:rPr sz="1019">
                <a:solidFill>
                  <a:srgbClr val="1E293B"/>
                </a:solidFill>
                <a:latin typeface="Segoe UI"/>
              </a:rPr>
              <a:t>Automated 3, 6, 12-month check-in queue tracking job retention &amp; wage progression.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10. Instant Credential Checks: </a:t>
            </a:r>
            <a:r>
              <a:rPr sz="1019">
                <a:solidFill>
                  <a:srgbClr val="1E293B"/>
                </a:solidFill>
                <a:latin typeface="Segoe UI"/>
              </a:rPr>
              <a:t>Public tamper-evident verification eliminates certificate counterfeiting.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11. Skill-Gap &amp; Dropout Diagnostics: </a:t>
            </a:r>
            <a:r>
              <a:rPr sz="1019">
                <a:solidFill>
                  <a:srgbClr val="1E293B"/>
                </a:solidFill>
                <a:latin typeface="Segoe UI"/>
              </a:rPr>
              <a:t>Actionable data identifies causes of non-placement to improve course design.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300000" y="1180000"/>
            <a:ext cx="5500000" cy="2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Business Potential: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1. GovTech SaaS Service: </a:t>
            </a:r>
            <a:r>
              <a:rPr sz="1019">
                <a:solidFill>
                  <a:srgbClr val="1E293B"/>
                </a:solidFill>
                <a:latin typeface="Segoe UI"/>
              </a:rPr>
              <a:t>Subscription-based outcomes tracking for State Skill Missions, NSDC, and Sector Skill Councils.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2. Tiered Access: </a:t>
            </a:r>
            <a:r>
              <a:rPr sz="1019">
                <a:solidFill>
                  <a:srgbClr val="1E293B"/>
                </a:solidFill>
                <a:latin typeface="Segoe UI"/>
              </a:rPr>
              <a:t>Corporate employer talent matching portal with verified pre-screened candidate profiles.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3. CSR Foundation Partnerships: </a:t>
            </a:r>
            <a:r>
              <a:rPr sz="1019">
                <a:solidFill>
                  <a:srgbClr val="1E293B"/>
                </a:solidFill>
                <a:latin typeface="Segoe UI"/>
              </a:rPr>
              <a:t>Automated longitudinal audit reporting and ESG impact verification for enterprise CSR funds.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4. Consulting &amp; Remedial Analytics: </a:t>
            </a:r>
            <a:r>
              <a:rPr sz="1019">
                <a:solidFill>
                  <a:srgbClr val="1E293B"/>
                </a:solidFill>
                <a:latin typeface="Segoe UI"/>
              </a:rPr>
              <a:t>Data-driven course redesign and district skilling gap advisory services.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Solutions: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5. Robust Data &amp; Algorithms: </a:t>
            </a:r>
            <a:r>
              <a:rPr sz="1019">
                <a:solidFill>
                  <a:srgbClr val="1E293B"/>
                </a:solidFill>
                <a:latin typeface="Segoe UI"/>
              </a:rPr>
              <a:t>Assisted WhatsApp/SMS outreach ensures high response rates despite changed phone numbers.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6. Seamless Integration: </a:t>
            </a:r>
            <a:r>
              <a:rPr sz="1019">
                <a:solidFill>
                  <a:srgbClr val="1E293B"/>
                </a:solidFill>
                <a:latin typeface="Segoe UI"/>
              </a:rPr>
              <a:t>Decoupled REST architecture connects effortlessly to existing portal databases and mobile apps.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0066CC"/>
                </a:solidFill>
                <a:latin typeface="Segoe UI"/>
              </a:rPr>
              <a:t>7. User-Centric Design: </a:t>
            </a:r>
            <a:r>
              <a:rPr sz="1019">
                <a:solidFill>
                  <a:srgbClr val="1E293B"/>
                </a:solidFill>
                <a:latin typeface="Segoe UI"/>
              </a:rPr>
              <a:t>11 native Indian languages and icon-driven UI ensure rural staff adopt the system effectively.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300000" y="4300000"/>
            <a:ext cx="5500000" cy="1800000"/>
          </a:xfrm>
          <a:prstGeom prst="roundRect">
            <a:avLst/>
          </a:prstGeom>
          <a:solidFill>
            <a:srgbClr val="DCF5E1"/>
          </a:solidFill>
          <a:ln w="19050">
            <a:solidFill>
              <a:srgbClr val="28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green_chec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000" y="4420000"/>
            <a:ext cx="400000" cy="4000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900000" y="4420000"/>
            <a:ext cx="4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A6428"/>
                </a:solidFill>
                <a:latin typeface="Segoe UI"/>
              </a:defRPr>
            </a:pPr>
            <a:r>
              <a:t>Supporting Facts for Feasibility and Viability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40000" y="4860000"/>
            <a:ext cx="522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20">
                <a:solidFill>
                  <a:srgbClr val="0A501E"/>
                </a:solidFill>
                <a:latin typeface="Segoe UI"/>
              </a:rPr>
              <a:t>100% Functional Live Prototype deployed at: </a:t>
            </a:r>
            <a:r>
              <a:rPr sz="1120" b="1" u="sng">
                <a:solidFill>
                  <a:srgbClr val="0066CC"/>
                </a:solidFill>
                <a:latin typeface="Segoe UI"/>
                <a:hlinkClick r:id="rId6"/>
              </a:rPr>
              <a:t>https://skill-pulse-employeetracker.vercel.app/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20">
                <a:solidFill>
                  <a:srgbClr val="0A501E"/>
                </a:solidFill>
                <a:latin typeface="Segoe UI"/>
              </a:rPr>
              <a:t>28 / 28 Automated Backend Tests Passing (Unit, Scoping, Auth, Privacy &amp; Certificates).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20">
                <a:solidFill>
                  <a:srgbClr val="0A501E"/>
                </a:solidFill>
                <a:latin typeface="Segoe UI"/>
              </a:rPr>
              <a:t>1,247 Trainees &amp; 893 Verified Outcomes actively tracked and benchmarked in live database.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0000" y="140000"/>
            <a:ext cx="7900000" cy="980000"/>
          </a:xfrm>
        </p:spPr>
        <p:txBody>
          <a:bodyPr wrap="square" tIns="0" bIns="0" lIns="0" rIns="0"/>
          <a:lstStyle/>
          <a:p>
            <a:pPr eaLnBrk="1" hangingPunct="1">
              <a:spcAft>
                <a:spcPts val="20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IMPACT AND BENEFITS</a:t>
            </a:r>
          </a:p>
          <a:p>
            <a:pPr>
              <a:defRPr sz="1400" b="1">
                <a:solidFill>
                  <a:srgbClr val="0066CC"/>
                </a:solidFill>
                <a:latin typeface="Segoe UI"/>
              </a:defRPr>
            </a:pPr>
            <a:r>
              <a:t>❖ Benefits of the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1" y="317246"/>
            <a:ext cx="340000" cy="3400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29773" y="672246"/>
            <a:ext cx="1251857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1E2749"/>
                </a:solidFill>
                <a:latin typeface="Segoe UI"/>
              </a:defRPr>
            </a:pPr>
            <a:r>
              <a:t>SYNKRO</a:t>
            </a:r>
          </a:p>
        </p:txBody>
      </p:sp>
      <p:pic>
        <p:nvPicPr>
          <p:cNvPr id="17413" name="Picture 17412" descr="slide5_benefits_flow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0" y="1180000"/>
            <a:ext cx="11350000" cy="180000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20000" y="3100000"/>
            <a:ext cx="5550000" cy="2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66CC"/>
                </a:solidFill>
                <a:latin typeface="Segoe UI"/>
              </a:defRPr>
            </a:pPr>
            <a:r>
              <a:t>❖ Potential impact on the target audience: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Trainees &amp; Jobseekers: </a:t>
            </a:r>
            <a:r>
              <a:rPr sz="1080">
                <a:solidFill>
                  <a:srgbClr val="1E293B"/>
                </a:solidFill>
                <a:latin typeface="Segoe UI"/>
              </a:rPr>
              <a:t>Empowers youth with permanent tamper-evident digital resumes, salary transparency, and post-placement career tracking in their mother tongue.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Training Centers &amp; Mobilizers: </a:t>
            </a:r>
            <a:r>
              <a:rPr sz="1080">
                <a:solidFill>
                  <a:srgbClr val="1E293B"/>
                </a:solidFill>
                <a:latin typeface="Segoe UI"/>
              </a:rPr>
              <a:t>Automated follow-up scheduling and dynamic overdue alerts save 80% of administrative manual tracking time, preventing loss of trainee contact.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Hiring Employers &amp; MSMEs: </a:t>
            </a:r>
            <a:r>
              <a:rPr sz="1080">
                <a:solidFill>
                  <a:srgbClr val="1E293B"/>
                </a:solidFill>
                <a:latin typeface="Segoe UI"/>
              </a:rPr>
              <a:t>Instant 10-second credential verification without phone calls to institutes; direct access to pre-screened, certified job-ready talent.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 </a:t>
            </a:r>
            <a:r>
              <a:rPr sz="1200" b="1">
                <a:solidFill>
                  <a:srgbClr val="0F172A"/>
                </a:solidFill>
                <a:latin typeface="Segoe UI"/>
              </a:rPr>
              <a:t>Regulators &amp; Government (MSDE/NSDC): </a:t>
            </a:r>
            <a:r>
              <a:rPr sz="1080">
                <a:solidFill>
                  <a:srgbClr val="1E293B"/>
                </a:solidFill>
                <a:latin typeface="Segoe UI"/>
              </a:rPr>
              <a:t>Provides a transparent, data-driven system for comparing provider outcomes, targeting public funds, and designing evidence-based skilling policies.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220000" y="3100000"/>
            <a:ext cx="5550000" cy="2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Social: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11 Indian languages ensure dignity &amp; access for rural youth and women.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Transparent wage insights prevent learner exploitation &amp; set clear goals.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Technological: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Replaces paper registers with tamper-proof cryptographic credentials.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Automated k-anonymity privacy protects individual trainee identities.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Economic: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Achieves 71.6% placement rate and tracks Rs 18,500 avg monthly wage.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Maximizes public skilling ROI by targeting high-performing courses.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Governance &amp; Compliance: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100% compliance with DPDPA 2023 via explicit granular trainee consent.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80">
                <a:solidFill>
                  <a:srgbClr val="1E293B"/>
                </a:solidFill>
                <a:latin typeface="Segoe UI"/>
              </a:rPr>
              <a:t>• Dropout &amp; skill-gap diagnostics guide targeted remedial curriculum.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50000" y="140000"/>
            <a:ext cx="7900000" cy="980000"/>
          </a:xfrm>
        </p:spPr>
        <p:txBody>
          <a:bodyPr wrap="square" tIns="0" bIns="0" lIns="0" rIns="0"/>
          <a:lstStyle/>
          <a:p>
            <a:pPr eaLnBrk="1" hangingPunct="1">
              <a:spcAft>
                <a:spcPts val="200"/>
              </a:spcAft>
              <a:defRPr sz="2500" b="1">
                <a:solidFill>
                  <a:srgbClr val="0F172A"/>
                </a:solidFill>
                <a:latin typeface="Segoe UI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ynkro_logo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1" y="317246"/>
            <a:ext cx="340000" cy="3400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29773" y="672246"/>
            <a:ext cx="1251857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1E2749"/>
                </a:solidFill>
                <a:latin typeface="Segoe UI"/>
              </a:defRPr>
            </a:pPr>
            <a:r>
              <a:t>SYNKRO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0000" y="1180000"/>
            <a:ext cx="4850000" cy="4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66CC"/>
                </a:solidFill>
                <a:latin typeface="Segoe UI"/>
              </a:defRPr>
            </a:pPr>
            <a:r>
              <a:t>❖ References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Research &amp; Best Practices: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5"/>
              </a:rPr>
              <a:t>https://pmkvyofficial.org/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6"/>
              </a:rPr>
              <a:t>https://ncvet.gov.in/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7"/>
              </a:rPr>
              <a:t>https://dgt.gov.in/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8"/>
              </a:rPr>
              <a:t>https://ddugky.gov.in/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9"/>
              </a:rPr>
              <a:t>https://www.meity.gov.in/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10"/>
              </a:rPr>
              <a:t>https://www.sciencedirect.com/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40" b="1">
                <a:solidFill>
                  <a:srgbClr val="0F172A"/>
                </a:solidFill>
                <a:latin typeface="Segoe UI"/>
              </a:rPr>
              <a:t>➢ </a:t>
            </a:r>
            <a:r>
              <a:rPr sz="1140" u="sng">
                <a:solidFill>
                  <a:srgbClr val="0066CC"/>
                </a:solidFill>
                <a:latin typeface="Segoe UI"/>
                <a:hlinkClick r:id="rId11"/>
              </a:rPr>
              <a:t>https://owasp.org/www-project-api-security/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SkillPulse Live Platform &amp; Source Code: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➢ Live Web App: </a:t>
            </a:r>
            <a:r>
              <a:rPr sz="1019" u="sng">
                <a:solidFill>
                  <a:srgbClr val="0066CC"/>
                </a:solidFill>
                <a:latin typeface="Segoe UI"/>
                <a:hlinkClick r:id="rId12"/>
              </a:rPr>
              <a:t>https://skill-pulse-employeetracker.vercel.app/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➢ Frontend Repo: </a:t>
            </a:r>
            <a:r>
              <a:rPr sz="1019" u="sng">
                <a:solidFill>
                  <a:srgbClr val="0066CC"/>
                </a:solidFill>
                <a:latin typeface="Segoe UI"/>
                <a:hlinkClick r:id="rId13"/>
              </a:rPr>
              <a:t>https://github.com/priyanshu-pgb/SkillPulse-Frontend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➢ Backend Repo: </a:t>
            </a:r>
            <a:r>
              <a:rPr sz="1019" u="sng">
                <a:solidFill>
                  <a:srgbClr val="0066CC"/>
                </a:solidFill>
                <a:latin typeface="Segoe UI"/>
                <a:hlinkClick r:id="rId14"/>
              </a:rPr>
              <a:t>https://github.com/priyanshu-pgb/SkillPulse-Backend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50000" y="1180000"/>
            <a:ext cx="64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Segoe UI"/>
              </a:defRPr>
            </a:pPr>
            <a:r>
              <a:t>❖ Comparison with Existing Systems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5350000" y="1580000"/>
          <a:ext cx="6450000" cy="4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000"/>
                <a:gridCol w="1450000"/>
                <a:gridCol w="1050000"/>
                <a:gridCol w="1000000"/>
                <a:gridCol w="1000000"/>
              </a:tblGrid>
              <a:tr h="56875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marL="50000" marR="50000" marT="30000" marB="30000" anchor="ctr">
                    <a:solidFill>
                      <a:srgbClr val="1E27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SkillPulse (SYNKRO)</a:t>
                      </a:r>
                    </a:p>
                  </a:txBody>
                  <a:tcPr marL="50000" marR="50000" marT="30000" marB="30000" anchor="ctr">
                    <a:solidFill>
                      <a:srgbClr val="1E27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Skill India Portal</a:t>
                      </a:r>
                    </a:p>
                  </a:txBody>
                  <a:tcPr marL="50000" marR="50000" marT="30000" marB="30000" anchor="ctr">
                    <a:solidFill>
                      <a:srgbClr val="1E27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Generic LMS</a:t>
                      </a:r>
                    </a:p>
                  </a:txBody>
                  <a:tcPr marL="50000" marR="50000" marT="30000" marB="30000" anchor="ctr">
                    <a:solidFill>
                      <a:srgbClr val="1E27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Sheets</a:t>
                      </a:r>
                    </a:p>
                  </a:txBody>
                  <a:tcPr marL="50000" marR="50000" marT="30000" marB="30000" anchor="ctr">
                    <a:solidFill>
                      <a:srgbClr val="1E2749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Real-Time Outcome Tracking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 (Delayed)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Longitudinal Follow-Up (3/6/12 Mo)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(Automated)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 (Incomplete)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Verifiable Cryptographic Certificates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(ReportLab UUID)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(Static PDF)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(Basic)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k-Anonymity Wage Privacy Guard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(&lt;5 Masked)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11-Language Native Localization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(11 Langs + RTL)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(Hindi/English)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(English)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DPDPA-Compliant Consent Gate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(Granular Gate)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(Checkbox only)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 marL="50000" marR="50000" marT="30000" marB="30000" anchor="ctr">
                    <a:solidFill>
                      <a:srgbClr val="FFFFFF"/>
                    </a:solidFill>
                  </a:tcPr>
                </a:tc>
              </a:tr>
              <a:tr h="56875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Automated Test Suite Coverage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10783C"/>
                          </a:solidFill>
                          <a:latin typeface="Segoe UI"/>
                        </a:defRPr>
                      </a:pPr>
                      <a:r>
                        <a:t>✔ (28/28 Passing)</a:t>
                      </a:r>
                    </a:p>
                  </a:txBody>
                  <a:tcPr marL="50000" marR="50000" marT="30000" marB="30000"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 (Unverified)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▲ (Varies)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>
                          <a:solidFill>
                            <a:srgbClr val="B43232"/>
                          </a:solidFill>
                          <a:latin typeface="Segoe UI"/>
                        </a:defRPr>
                      </a:pPr>
                      <a:r>
                        <a:t>✖ (0 Tests)</a:t>
                      </a:r>
                    </a:p>
                  </a:txBody>
                  <a:tcPr marL="50000" marR="50000" marT="30000" marB="30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